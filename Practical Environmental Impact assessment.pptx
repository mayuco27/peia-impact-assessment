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4" r:id="rId4"/>
    <p:sldId id="257" r:id="rId5"/>
    <p:sldId id="258" r:id="rId6"/>
    <p:sldId id="259" r:id="rId7"/>
    <p:sldId id="260" r:id="rId8"/>
    <p:sldId id="266" r:id="rId9"/>
    <p:sldId id="261" r:id="rId10"/>
    <p:sldId id="262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60" d="100"/>
          <a:sy n="60" d="100"/>
        </p:scale>
        <p:origin x="800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30E66-45F7-E725-44E5-82343CC633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2EA3BF-9D07-2EE1-BAE8-48688E4B61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11D1CD-E1A0-0D6C-DF96-40063CD98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A2A1A-3DF1-41BF-8376-2D1501605E66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EF469F-C92F-C7FB-C00F-CA7F504F5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E3961D-BE10-4C43-34CD-3A11126D0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256D-F382-4B6E-B70B-A9FA50DF6C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4241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97CA1-7F7B-6B6F-6696-F302FA3CA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58FD69-073C-AB8D-8A31-938057718E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54F89-C3AE-17FC-3F80-5A2214A8F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A2A1A-3DF1-41BF-8376-2D1501605E66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39FC9-4A6D-501D-78AD-F8894E997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EC785A-88C6-A6B0-5735-CAE60055B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256D-F382-4B6E-B70B-A9FA50DF6C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9223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9767C-FC6E-72E1-D2F8-3E3008D92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FF027D-8F67-169E-95D9-398D2A36F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7D96B6-2B70-5F83-2677-B930ABA91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A2A1A-3DF1-41BF-8376-2D1501605E66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307FE3-B73F-B3E2-8E04-04CD00BDB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A1558-BADF-64F8-E467-067A5BAD2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256D-F382-4B6E-B70B-A9FA50DF6C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5098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4257F-5A49-8F0D-7F5E-7759BAC68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465E4-A958-D23F-7792-A19E9ABBBC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74C3D1-A303-50A5-5662-C4301D8B5E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CC55DE-6B43-ACB7-F11D-30FFAEF2B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A2A1A-3DF1-41BF-8376-2D1501605E66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33CB9-7DCA-4E94-57C6-16375E7E2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78EBBD-A7B0-8B33-D160-E58A1075F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256D-F382-4B6E-B70B-A9FA50DF6C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8439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48E61-6449-1DB6-C8C9-8CC62ED75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F9775B-0B58-F0C5-37FD-8B6F4543A0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B2CE08-6256-93E2-1FDB-24A4394C15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2A81E8-95B8-E7C6-DC0F-C7C00CE715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132DF9-9D71-9E2A-9E84-87C60449B6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946BA8-D35B-209D-A343-7C99E897F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A2A1A-3DF1-41BF-8376-2D1501605E66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8D6B5D-3662-EC74-23B3-5CD60A362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0E6C79-A5FB-D579-5A43-2D00C4618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256D-F382-4B6E-B70B-A9FA50DF6C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7945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543BF-A19B-94D4-208F-800AF2899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D6119-1EFA-33D1-436E-D5E2C85FC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A2A1A-3DF1-41BF-8376-2D1501605E66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1E01D6-1393-CB05-2437-7FFCB1327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B0294-D778-E034-AE85-635803FBC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256D-F382-4B6E-B70B-A9FA50DF6C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9059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C613F2-4A60-2794-0D48-E27597531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A2A1A-3DF1-41BF-8376-2D1501605E66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9E4E32-2084-DBD4-09AF-175D6827A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A4E430-D333-8ED3-687F-57CC2E77F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256D-F382-4B6E-B70B-A9FA50DF6C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8819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909B4-5734-C225-AA7C-9E1FED3B0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86D56-90DF-03FD-AAE6-874595EDEA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53F78B-BCE7-1145-2D82-EBA1FC2657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38893C-6FBB-DD33-2362-34D69DC6D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A2A1A-3DF1-41BF-8376-2D1501605E66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1E8C84-DE2F-D5B6-8772-E5C4E2AD8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EA1AC5-D8B6-1254-3E7D-19BA3E279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256D-F382-4B6E-B70B-A9FA50DF6C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0251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5DD6E-FC5A-7820-F83A-68B7025FD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F7ED02-8FCE-0544-4340-B5B62A86D1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2BCB4B-07F4-BE81-3937-51F65AFB2A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AEF3DC-C2D6-CB9A-94AD-1FAFD8B50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A2A1A-3DF1-41BF-8376-2D1501605E66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BFEAAE-9428-DD1B-F0EC-8A6D53CC0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578E56-B071-B45B-BC52-11C67F1AE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256D-F382-4B6E-B70B-A9FA50DF6C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8571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53E5B-8CAB-7654-E659-FFFC2521C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4E881B-0B5A-23FF-A077-23990A5ECC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5850F5-F1D0-D5C4-B07B-7DF5E6E60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A2A1A-3DF1-41BF-8376-2D1501605E66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34344E-0726-DFF3-CA1D-F68A8894C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455DF2-8ED3-7CA1-C9C2-06DFAF1C8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256D-F382-4B6E-B70B-A9FA50DF6C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7431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0145CF-2703-2874-A96A-8DE4BB93EB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799F94-862D-C4F2-3771-11EE45198B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4893C9-ABAE-6F43-3D49-860161426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A2A1A-3DF1-41BF-8376-2D1501605E66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41F9D-0213-C884-9A64-7FFFEEB4C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3484B-D959-27B8-8638-5A293A4E3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256D-F382-4B6E-B70B-A9FA50DF6C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7853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44D50E-4788-8E5A-387B-8E36E316B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449A86-957E-5005-ED7B-4EC68E3148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B110BA-D8CA-934B-1837-2880E796E3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CA2A1A-3DF1-41BF-8376-2D1501605E66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5E4341-DD22-B443-042D-5F56C4D584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75000-EA38-BB4D-5171-6B09623FD7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49256D-F382-4B6E-B70B-A9FA50DF6C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7460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E895D-500D-AE78-C47B-DA4F885E2A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Practical Environmental Impact assessment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85CE6D-F652-2313-5E1E-6A73836DE4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sz="3200" dirty="0"/>
              <a:t>James Watt</a:t>
            </a:r>
          </a:p>
          <a:p>
            <a:r>
              <a:rPr lang="en-GB" sz="3200" dirty="0"/>
              <a:t>28/08/206 – 03/09/2026</a:t>
            </a:r>
          </a:p>
        </p:txBody>
      </p:sp>
    </p:spTree>
    <p:extLst>
      <p:ext uri="{BB962C8B-B14F-4D97-AF65-F5344CB8AC3E}">
        <p14:creationId xmlns:p14="http://schemas.microsoft.com/office/powerpoint/2010/main" val="2847410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85B41-8E57-D561-0F16-3FC8ECD05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Course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CA65D-3F25-57F8-0FD6-1AAFE69980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Field Course component in Glenmore forest</a:t>
            </a:r>
          </a:p>
          <a:p>
            <a:endParaRPr lang="en-GB" dirty="0"/>
          </a:p>
          <a:p>
            <a:r>
              <a:rPr lang="en-GB" dirty="0"/>
              <a:t>3 hr Seminar – Week 1 – 5 (Tuesday 10am)</a:t>
            </a:r>
          </a:p>
          <a:p>
            <a:endParaRPr lang="en-GB" dirty="0"/>
          </a:p>
          <a:p>
            <a:r>
              <a:rPr lang="en-GB" dirty="0"/>
              <a:t>Assessment</a:t>
            </a:r>
          </a:p>
          <a:p>
            <a:pPr lvl="1"/>
            <a:endParaRPr lang="en-GB" dirty="0"/>
          </a:p>
          <a:p>
            <a:pPr lvl="1"/>
            <a:r>
              <a:rPr lang="en-GB" dirty="0"/>
              <a:t>50 % Coursework =- writing an Environmental Impact Assessment</a:t>
            </a:r>
          </a:p>
          <a:p>
            <a:pPr lvl="1"/>
            <a:r>
              <a:rPr lang="en-GB" dirty="0"/>
              <a:t>50 % Exam (2 hr exam)</a:t>
            </a:r>
          </a:p>
        </p:txBody>
      </p:sp>
    </p:spTree>
    <p:extLst>
      <p:ext uri="{BB962C8B-B14F-4D97-AF65-F5344CB8AC3E}">
        <p14:creationId xmlns:p14="http://schemas.microsoft.com/office/powerpoint/2010/main" val="3646586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786E0-EAF4-DD23-54E9-FF22E016A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course – an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1CEAB-C986-A1EC-91BB-5147FE2118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>
              <a:buFont typeface="+mj-lt"/>
              <a:buAutoNum type="arabicPeriod"/>
            </a:pPr>
            <a:r>
              <a:rPr lang="en-GB" b="0" i="0" u="sng" dirty="0">
                <a:effectLst/>
                <a:latin typeface="inherit"/>
              </a:rPr>
              <a:t>Enhance skills and understanding in using advanced ecological and environmental field methodologies to collect data in support of evidence-based Environmental Impact Assessments (EIA).</a:t>
            </a:r>
          </a:p>
          <a:p>
            <a:pPr algn="l">
              <a:buFont typeface="+mj-lt"/>
              <a:buAutoNum type="arabicPeriod"/>
            </a:pPr>
            <a:r>
              <a:rPr lang="en-GB" b="0" i="0" u="sng" dirty="0">
                <a:effectLst/>
                <a:latin typeface="inherit"/>
              </a:rPr>
              <a:t>Critically evaluate specialised field methodologies, including their limitations and suitability for professional impact assessment contexts</a:t>
            </a:r>
            <a:r>
              <a:rPr lang="en-GB" b="0" i="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inherit"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en-GB" b="0" i="0" dirty="0">
                <a:solidFill>
                  <a:srgbClr val="000000"/>
                </a:solidFill>
                <a:effectLst/>
                <a:latin typeface="inherit"/>
              </a:rPr>
              <a:t>Analyse and interpret ecological and environmental field data using appropriate quantitative approaches to establish environmental baselines.</a:t>
            </a:r>
          </a:p>
          <a:p>
            <a:pPr algn="l">
              <a:buFont typeface="+mj-lt"/>
              <a:buAutoNum type="arabicPeriod"/>
            </a:pPr>
            <a:r>
              <a:rPr lang="en-GB" b="0" i="0" dirty="0">
                <a:solidFill>
                  <a:srgbClr val="000000"/>
                </a:solidFill>
                <a:effectLst/>
                <a:latin typeface="inherit"/>
              </a:rPr>
              <a:t>Synthesise field evidence within the framework of an EIA to assess impact significance and propose mitigation options.</a:t>
            </a:r>
          </a:p>
          <a:p>
            <a:pPr algn="l">
              <a:buFont typeface="+mj-lt"/>
              <a:buAutoNum type="arabicPeriod"/>
            </a:pPr>
            <a:r>
              <a:rPr lang="en-GB" b="0" i="0" dirty="0">
                <a:solidFill>
                  <a:srgbClr val="000000"/>
                </a:solidFill>
                <a:effectLst/>
                <a:latin typeface="inherit"/>
              </a:rPr>
              <a:t>Generate an EIA that addresses impacts, while ensuring a balanced consideration of ecological, social, and economic priorities.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237474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D249690-3A5C-ED25-A04C-436C5A667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9549" y="736778"/>
            <a:ext cx="6576550" cy="5504534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FE244F93-5C71-1806-2DAE-8CB7B5E5EF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679" y="1173126"/>
            <a:ext cx="3888858" cy="5185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94D3672-9AAE-741E-A92C-2413E4AC675B}"/>
              </a:ext>
            </a:extLst>
          </p:cNvPr>
          <p:cNvCxnSpPr>
            <a:cxnSpLocks/>
          </p:cNvCxnSpPr>
          <p:nvPr/>
        </p:nvCxnSpPr>
        <p:spPr>
          <a:xfrm flipV="1">
            <a:off x="2360428" y="736778"/>
            <a:ext cx="2839121" cy="184693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BD5FF57-74AE-D945-2E9B-9FFB88BE39EA}"/>
              </a:ext>
            </a:extLst>
          </p:cNvPr>
          <p:cNvCxnSpPr>
            <a:cxnSpLocks/>
          </p:cNvCxnSpPr>
          <p:nvPr/>
        </p:nvCxnSpPr>
        <p:spPr>
          <a:xfrm>
            <a:off x="2360428" y="2583712"/>
            <a:ext cx="2839121" cy="36576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0225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C794B-F547-D7AD-B51A-DF3DB80E7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037" y="191387"/>
            <a:ext cx="10949763" cy="1325563"/>
          </a:xfrm>
        </p:spPr>
        <p:txBody>
          <a:bodyPr/>
          <a:lstStyle/>
          <a:p>
            <a:r>
              <a:rPr lang="en-GB" dirty="0"/>
              <a:t>Glenmore has a large number of land use conflicts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761AC-78AE-3F2F-D3B9-32ACD1BBE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40989"/>
          </a:xfrm>
        </p:spPr>
        <p:txBody>
          <a:bodyPr>
            <a:normAutofit fontScale="70000" lnSpcReduction="20000"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Forestry- Primarily Scots Pine (</a:t>
            </a:r>
            <a:r>
              <a:rPr lang="en-GB" b="0" i="1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Pinus sylvestris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) forest, but also contains plantations of Sitka Spruce (</a:t>
            </a:r>
            <a:r>
              <a:rPr lang="en-GB" i="1" dirty="0">
                <a:latin typeface="Arial" panose="020B0604020202020204" pitchFamily="34" charset="0"/>
                <a:cs typeface="Arial" panose="020B0604020202020204" pitchFamily="34" charset="0"/>
              </a:rPr>
              <a:t>Picea </a:t>
            </a:r>
            <a:r>
              <a:rPr lang="en-GB" i="1" dirty="0" err="1">
                <a:latin typeface="Arial" panose="020B0604020202020204" pitchFamily="34" charset="0"/>
                <a:cs typeface="Arial" panose="020B0604020202020204" pitchFamily="34" charset="0"/>
              </a:rPr>
              <a:t>sitchensis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), Lodge Pole Pine (</a:t>
            </a:r>
            <a:r>
              <a:rPr lang="en-GB" i="1" dirty="0">
                <a:latin typeface="Arial" panose="020B0604020202020204" pitchFamily="34" charset="0"/>
                <a:cs typeface="Arial" panose="020B0604020202020204" pitchFamily="34" charset="0"/>
              </a:rPr>
              <a:t>Pinus Contorta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and Norway Spruce (</a:t>
            </a:r>
            <a:r>
              <a:rPr lang="en-GB" i="1" dirty="0">
                <a:latin typeface="Arial" panose="020B0604020202020204" pitchFamily="34" charset="0"/>
                <a:cs typeface="Arial" panose="020B0604020202020204" pitchFamily="34" charset="0"/>
              </a:rPr>
              <a:t>Picea Abies)</a:t>
            </a:r>
          </a:p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Freshwaters - The forest contains wetlands, rivers and lochs that have numerous protective categorisations e.g. RAMSAR,SSSI, NNR)</a:t>
            </a:r>
          </a:p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Biodiversity – Glenmore is part of a larger Cairngorms biodiversity action plan to promote charismatic taxa e.g. Capercaillie, Red Squirrel, Beavers, restoring native forests etc.</a:t>
            </a:r>
          </a:p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Soils and Peatlands – Major projects under way restoring peatlands in the National park – recently 60 hectares of peat has been resorted proximal to the cairngorms rail way</a:t>
            </a:r>
          </a:p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Tourism and access – over 500,000 visitors access the forest every year, and this number continues to increase. Large push to increase facilities and infrastructure for tourism.</a:t>
            </a:r>
          </a:p>
        </p:txBody>
      </p:sp>
    </p:spTree>
    <p:extLst>
      <p:ext uri="{BB962C8B-B14F-4D97-AF65-F5344CB8AC3E}">
        <p14:creationId xmlns:p14="http://schemas.microsoft.com/office/powerpoint/2010/main" val="1858621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008EE-830B-9382-8F12-B49FB34B1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172" y="365125"/>
            <a:ext cx="6312195" cy="1325563"/>
          </a:xfrm>
        </p:spPr>
        <p:txBody>
          <a:bodyPr/>
          <a:lstStyle/>
          <a:p>
            <a:r>
              <a:rPr lang="en-GB" dirty="0"/>
              <a:t>Environmental Impact Assessment (EIA)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BB344-A4C8-2F8B-B8C1-0EA86CAD1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488" y="2141537"/>
            <a:ext cx="5039833" cy="4351338"/>
          </a:xfrm>
        </p:spPr>
        <p:txBody>
          <a:bodyPr>
            <a:normAutofit/>
          </a:bodyPr>
          <a:lstStyle/>
          <a:p>
            <a:r>
              <a:rPr lang="en-GB" dirty="0"/>
              <a:t>EIA is a process that is meant to identify potential environmental  impacts of land use change</a:t>
            </a:r>
          </a:p>
          <a:p>
            <a:endParaRPr lang="en-GB" dirty="0"/>
          </a:p>
          <a:p>
            <a:r>
              <a:rPr lang="en-GB" dirty="0"/>
              <a:t>Understanding how projects may affect the environment is contingent of good quality baseline data</a:t>
            </a:r>
          </a:p>
          <a:p>
            <a:endParaRPr lang="en-GB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A2ABFC15-E227-C2C0-83CC-8DC073ECB3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140"/>
          <a:stretch/>
        </p:blipFill>
        <p:spPr bwMode="auto">
          <a:xfrm>
            <a:off x="6539023" y="357708"/>
            <a:ext cx="5117805" cy="6284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09083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C3C86-A5A3-8CC1-E8DB-3CA48C5A7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This field course is all about baselining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53B953-8903-DAF8-029D-1BBCC93A87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Baseline data can be sought in two different ways</a:t>
            </a:r>
          </a:p>
          <a:p>
            <a:endParaRPr lang="en-GB" dirty="0"/>
          </a:p>
          <a:p>
            <a:pPr lvl="1"/>
            <a:r>
              <a:rPr lang="en-GB" dirty="0"/>
              <a:t>Desk based: Uses existing information about sites from planning records, GIS outputs, maps, environmental databases (GBIF, NBN atlas)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Baseline Study:  Collects new site specific information using scientifically backed methodologies and survey techniques. </a:t>
            </a:r>
            <a:r>
              <a:rPr lang="en-GB" b="0" i="0" dirty="0">
                <a:solidFill>
                  <a:srgbClr val="191C1A"/>
                </a:solidFill>
                <a:effectLst/>
                <a:latin typeface="Inter"/>
              </a:rPr>
              <a:t> </a:t>
            </a:r>
            <a:r>
              <a:rPr lang="en-GB" dirty="0">
                <a:solidFill>
                  <a:srgbClr val="191C1A"/>
                </a:solidFill>
                <a:latin typeface="Inter"/>
              </a:rPr>
              <a:t>I</a:t>
            </a:r>
            <a:r>
              <a:rPr lang="en-GB" b="0" i="0" dirty="0">
                <a:solidFill>
                  <a:srgbClr val="191C1A"/>
                </a:solidFill>
                <a:effectLst/>
                <a:latin typeface="Inter"/>
              </a:rPr>
              <a:t>dentifies current conditions not captured in existing datasets</a:t>
            </a:r>
            <a:endParaRPr lang="en-GB" dirty="0"/>
          </a:p>
          <a:p>
            <a:pPr lvl="1"/>
            <a:endParaRPr lang="en-GB" dirty="0"/>
          </a:p>
          <a:p>
            <a:pPr lvl="1" algn="ctr"/>
            <a:r>
              <a:rPr lang="en-GB" b="1" u="sng" dirty="0"/>
              <a:t>Your Task this field course is collect a baseline dataset for the soils, freshwaters and biodiversity of the Glenmore Forest</a:t>
            </a:r>
          </a:p>
        </p:txBody>
      </p:sp>
    </p:spTree>
    <p:extLst>
      <p:ext uri="{BB962C8B-B14F-4D97-AF65-F5344CB8AC3E}">
        <p14:creationId xmlns:p14="http://schemas.microsoft.com/office/powerpoint/2010/main" val="2494284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50316-7AD5-EBA1-8E6C-42884C1EF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Baseline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FC474-B19B-0B64-C4C3-7FE25D2AB2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GB" sz="2000" dirty="0"/>
              <a:t>You have been split into 3 groups of 16 members (Check LEARN)</a:t>
            </a:r>
          </a:p>
          <a:p>
            <a:endParaRPr lang="en-GB" sz="2000" dirty="0"/>
          </a:p>
          <a:p>
            <a:r>
              <a:rPr lang="en-GB" sz="2000" dirty="0"/>
              <a:t>Each group will tackle a different theme (Biodiversity, Freshwater, Biodiversity) each day</a:t>
            </a:r>
          </a:p>
          <a:p>
            <a:endParaRPr lang="en-GB" sz="2000" dirty="0"/>
          </a:p>
          <a:p>
            <a:r>
              <a:rPr lang="en-GB" sz="2000" dirty="0"/>
              <a:t>Each group will learn the same techniques but the sampling sites will be different, this way we can collect baseline information across a wide area of Glenmore forest.</a:t>
            </a:r>
          </a:p>
          <a:p>
            <a:endParaRPr lang="en-GB" sz="2000" dirty="0"/>
          </a:p>
          <a:p>
            <a:r>
              <a:rPr lang="en-GB" sz="2000" dirty="0"/>
              <a:t>Everyone will have the opportunity to work with the whole dataset during semester</a:t>
            </a:r>
          </a:p>
          <a:p>
            <a:endParaRPr lang="en-GB" sz="2000" dirty="0"/>
          </a:p>
          <a:p>
            <a:r>
              <a:rPr lang="en-GB" sz="2000" dirty="0"/>
              <a:t>The Baseline dataset will be used for the summative coursework – so its in everyone's best interest to stick in!</a:t>
            </a:r>
          </a:p>
          <a:p>
            <a:endParaRPr lang="en-GB" sz="2000" dirty="0"/>
          </a:p>
          <a:p>
            <a:r>
              <a:rPr lang="en-GB" sz="2000" dirty="0"/>
              <a:t>You all have an a4 map of Glenmore, make sure you mark down each day where you sampled and other interesting observations</a:t>
            </a:r>
          </a:p>
        </p:txBody>
      </p:sp>
    </p:spTree>
    <p:extLst>
      <p:ext uri="{BB962C8B-B14F-4D97-AF65-F5344CB8AC3E}">
        <p14:creationId xmlns:p14="http://schemas.microsoft.com/office/powerpoint/2010/main" val="7908145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17F248B-EC9D-A9D2-F051-312E931E53E0}"/>
              </a:ext>
            </a:extLst>
          </p:cNvPr>
          <p:cNvSpPr txBox="1"/>
          <p:nvPr/>
        </p:nvSpPr>
        <p:spPr>
          <a:xfrm>
            <a:off x="223283" y="255181"/>
            <a:ext cx="2838893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/>
              <a:t>Saturday</a:t>
            </a:r>
          </a:p>
          <a:p>
            <a:endParaRPr lang="en-GB" dirty="0"/>
          </a:p>
          <a:p>
            <a:r>
              <a:rPr lang="en-GB" dirty="0"/>
              <a:t>Group 1 – Soils</a:t>
            </a:r>
          </a:p>
          <a:p>
            <a:r>
              <a:rPr lang="en-GB" dirty="0"/>
              <a:t>Group 2 – Biodiversity</a:t>
            </a:r>
          </a:p>
          <a:p>
            <a:r>
              <a:rPr lang="en-GB" dirty="0"/>
              <a:t>Group 3 – Freshwaters</a:t>
            </a:r>
          </a:p>
          <a:p>
            <a:endParaRPr lang="en-GB" dirty="0"/>
          </a:p>
          <a:p>
            <a:r>
              <a:rPr lang="en-GB" u="sng" dirty="0"/>
              <a:t>Sunday</a:t>
            </a:r>
          </a:p>
          <a:p>
            <a:endParaRPr lang="en-GB" dirty="0"/>
          </a:p>
          <a:p>
            <a:r>
              <a:rPr lang="en-GB" dirty="0"/>
              <a:t>Group 1 -  Biodiversity</a:t>
            </a:r>
          </a:p>
          <a:p>
            <a:r>
              <a:rPr lang="en-GB" dirty="0"/>
              <a:t>Group 2 - Freshwaters</a:t>
            </a:r>
          </a:p>
          <a:p>
            <a:r>
              <a:rPr lang="en-GB" dirty="0"/>
              <a:t>Group 3 -  Soils</a:t>
            </a:r>
          </a:p>
          <a:p>
            <a:endParaRPr lang="en-GB" dirty="0"/>
          </a:p>
          <a:p>
            <a:r>
              <a:rPr lang="en-GB" u="sng" dirty="0"/>
              <a:t>Monday</a:t>
            </a:r>
          </a:p>
          <a:p>
            <a:endParaRPr lang="en-GB" dirty="0"/>
          </a:p>
          <a:p>
            <a:r>
              <a:rPr lang="en-GB" dirty="0"/>
              <a:t>Group 1 - Freshwaters</a:t>
            </a:r>
          </a:p>
          <a:p>
            <a:r>
              <a:rPr lang="en-GB" dirty="0"/>
              <a:t>Group 2 - Soils</a:t>
            </a:r>
          </a:p>
          <a:p>
            <a:r>
              <a:rPr lang="en-GB" dirty="0"/>
              <a:t>Group 3 – Biodiversity</a:t>
            </a:r>
          </a:p>
          <a:p>
            <a:endParaRPr lang="en-GB" dirty="0"/>
          </a:p>
          <a:p>
            <a:r>
              <a:rPr lang="en-GB" dirty="0"/>
              <a:t>Tuesday</a:t>
            </a:r>
          </a:p>
          <a:p>
            <a:endParaRPr lang="en-GB" dirty="0"/>
          </a:p>
          <a:p>
            <a:r>
              <a:rPr lang="en-GB" dirty="0"/>
              <a:t>All groups – phase 1 habitat survey / impact prediction  exercise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0607931-C51A-481C-DB4B-90366805A5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1119899"/>
              </p:ext>
            </p:extLst>
          </p:nvPr>
        </p:nvGraphicFramePr>
        <p:xfrm>
          <a:off x="4533014" y="430686"/>
          <a:ext cx="6471684" cy="57253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57228">
                  <a:extLst>
                    <a:ext uri="{9D8B030D-6E8A-4147-A177-3AD203B41FA5}">
                      <a16:colId xmlns:a16="http://schemas.microsoft.com/office/drawing/2014/main" val="54092536"/>
                    </a:ext>
                  </a:extLst>
                </a:gridCol>
                <a:gridCol w="2157228">
                  <a:extLst>
                    <a:ext uri="{9D8B030D-6E8A-4147-A177-3AD203B41FA5}">
                      <a16:colId xmlns:a16="http://schemas.microsoft.com/office/drawing/2014/main" val="1390911308"/>
                    </a:ext>
                  </a:extLst>
                </a:gridCol>
                <a:gridCol w="2157228">
                  <a:extLst>
                    <a:ext uri="{9D8B030D-6E8A-4147-A177-3AD203B41FA5}">
                      <a16:colId xmlns:a16="http://schemas.microsoft.com/office/drawing/2014/main" val="807389992"/>
                    </a:ext>
                  </a:extLst>
                </a:gridCol>
              </a:tblGrid>
              <a:tr h="255203"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Group 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Group 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Group 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5354121"/>
                  </a:ext>
                </a:extLst>
              </a:tr>
              <a:tr h="255203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u="none" strike="noStrike" dirty="0">
                          <a:effectLst/>
                        </a:rPr>
                        <a:t>Ariel Millar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u="none" strike="noStrike" dirty="0">
                          <a:effectLst/>
                        </a:rPr>
                        <a:t>Nina Kirk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u="none" strike="noStrike">
                          <a:effectLst/>
                        </a:rPr>
                        <a:t>Istara Datta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0649988"/>
                  </a:ext>
                </a:extLst>
              </a:tr>
              <a:tr h="255203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u="none" strike="noStrike" dirty="0" err="1">
                          <a:effectLst/>
                        </a:rPr>
                        <a:t>Xuanyi</a:t>
                      </a:r>
                      <a:r>
                        <a:rPr lang="en-GB" sz="1800" u="none" strike="noStrike" dirty="0">
                          <a:effectLst/>
                        </a:rPr>
                        <a:t> Zhao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u="none" strike="noStrike" dirty="0">
                          <a:effectLst/>
                        </a:rPr>
                        <a:t>Cameron Dalgleish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u="none" strike="noStrike">
                          <a:effectLst/>
                        </a:rPr>
                        <a:t>Yicheng Feng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497588681"/>
                  </a:ext>
                </a:extLst>
              </a:tr>
              <a:tr h="46191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u="none" strike="noStrike" dirty="0">
                          <a:effectLst/>
                        </a:rPr>
                        <a:t>Zara Bathurst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u="none" strike="noStrike" dirty="0">
                          <a:effectLst/>
                        </a:rPr>
                        <a:t>Tihani Binti Shahrudin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u="none" strike="noStrike">
                          <a:effectLst/>
                        </a:rPr>
                        <a:t>Jiaxuan Gong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654708918"/>
                  </a:ext>
                </a:extLst>
              </a:tr>
              <a:tr h="46191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u="none" strike="noStrike">
                          <a:effectLst/>
                        </a:rPr>
                        <a:t>Elizabeth Wardhaugh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u="none" strike="noStrike" dirty="0" err="1">
                          <a:effectLst/>
                        </a:rPr>
                        <a:t>Tarana</a:t>
                      </a:r>
                      <a:r>
                        <a:rPr lang="en-GB" sz="1800" u="none" strike="noStrike" dirty="0">
                          <a:effectLst/>
                        </a:rPr>
                        <a:t> Edwards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u="none" strike="noStrike" dirty="0">
                          <a:effectLst/>
                        </a:rPr>
                        <a:t>Isabel Ritchie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028486138"/>
                  </a:ext>
                </a:extLst>
              </a:tr>
              <a:tr h="46191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u="none" strike="noStrike" dirty="0">
                          <a:effectLst/>
                        </a:rPr>
                        <a:t>Isabell Ye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u="none" strike="noStrike" dirty="0">
                          <a:effectLst/>
                        </a:rPr>
                        <a:t>Scarlet Fletcher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u="none" strike="noStrike">
                          <a:effectLst/>
                        </a:rPr>
                        <a:t>Joesephine Rogerson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23105776"/>
                  </a:ext>
                </a:extLst>
              </a:tr>
              <a:tr h="255203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u="none" strike="noStrike">
                          <a:effectLst/>
                        </a:rPr>
                        <a:t>Adam Black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u="none" strike="noStrike">
                          <a:effectLst/>
                        </a:rPr>
                        <a:t>Zhaohang wang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u="none" strike="noStrike">
                          <a:effectLst/>
                        </a:rPr>
                        <a:t>Sophia Farouque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141675632"/>
                  </a:ext>
                </a:extLst>
              </a:tr>
              <a:tr h="255203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u="none" strike="noStrike" dirty="0">
                          <a:effectLst/>
                        </a:rPr>
                        <a:t>Xinyi Zhang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u="none" strike="noStrike" dirty="0">
                          <a:effectLst/>
                        </a:rPr>
                        <a:t>Isabel </a:t>
                      </a:r>
                      <a:r>
                        <a:rPr lang="en-GB" sz="1800" u="none" strike="noStrike" dirty="0" err="1">
                          <a:effectLst/>
                        </a:rPr>
                        <a:t>Sunley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u="none" strike="noStrike">
                          <a:effectLst/>
                        </a:rPr>
                        <a:t>Imogen Tyler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75853554"/>
                  </a:ext>
                </a:extLst>
              </a:tr>
              <a:tr h="255203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u="none" strike="noStrike" dirty="0">
                          <a:effectLst/>
                        </a:rPr>
                        <a:t>Sally </a:t>
                      </a:r>
                      <a:r>
                        <a:rPr lang="en-GB" sz="1800" u="none" strike="noStrike" dirty="0" err="1">
                          <a:effectLst/>
                        </a:rPr>
                        <a:t>Borrowman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u="none" strike="noStrike" dirty="0">
                          <a:effectLst/>
                        </a:rPr>
                        <a:t>Charlotte Hillier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u="none" strike="noStrike">
                          <a:effectLst/>
                        </a:rPr>
                        <a:t>Yanting Shen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938397969"/>
                  </a:ext>
                </a:extLst>
              </a:tr>
              <a:tr h="255203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u="none" strike="noStrike">
                          <a:effectLst/>
                        </a:rPr>
                        <a:t>Katy Gailbrath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u="none" strike="noStrike" dirty="0">
                          <a:effectLst/>
                        </a:rPr>
                        <a:t>Patrick </a:t>
                      </a:r>
                      <a:r>
                        <a:rPr lang="en-GB" sz="1800" u="none" strike="noStrike" dirty="0" err="1">
                          <a:effectLst/>
                        </a:rPr>
                        <a:t>hanley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u="none" strike="noStrike" dirty="0">
                          <a:effectLst/>
                        </a:rPr>
                        <a:t>May Nishimura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824096895"/>
                  </a:ext>
                </a:extLst>
              </a:tr>
              <a:tr h="255203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u="none" strike="noStrike" dirty="0" err="1">
                          <a:effectLst/>
                        </a:rPr>
                        <a:t>Weiran</a:t>
                      </a:r>
                      <a:r>
                        <a:rPr lang="en-GB" sz="1800" u="none" strike="noStrike" dirty="0">
                          <a:effectLst/>
                        </a:rPr>
                        <a:t> Cao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u="none" strike="noStrike" dirty="0">
                          <a:effectLst/>
                        </a:rPr>
                        <a:t>Olivia Elliott-smith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u="none" strike="noStrike">
                          <a:effectLst/>
                        </a:rPr>
                        <a:t>Vadim Laime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1951600"/>
                  </a:ext>
                </a:extLst>
              </a:tr>
              <a:tr h="46191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u="none" strike="noStrike" dirty="0">
                          <a:effectLst/>
                        </a:rPr>
                        <a:t>Ethan Lomax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u="none" strike="noStrike" dirty="0">
                          <a:effectLst/>
                        </a:rPr>
                        <a:t>Sam Barker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u="none" strike="noStrike">
                          <a:effectLst/>
                        </a:rPr>
                        <a:t>Madeline Ryall-west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58944437"/>
                  </a:ext>
                </a:extLst>
              </a:tr>
              <a:tr h="255203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u="none" strike="noStrike" dirty="0" err="1">
                          <a:effectLst/>
                        </a:rPr>
                        <a:t>Unnabh</a:t>
                      </a:r>
                      <a:r>
                        <a:rPr lang="en-GB" sz="1800" u="none" strike="noStrike" dirty="0">
                          <a:effectLst/>
                        </a:rPr>
                        <a:t> Ghosh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u="none" strike="noStrike" dirty="0">
                          <a:effectLst/>
                        </a:rPr>
                        <a:t>Elspeth </a:t>
                      </a:r>
                      <a:r>
                        <a:rPr lang="en-GB" sz="1800" u="none" strike="noStrike" dirty="0" err="1">
                          <a:effectLst/>
                        </a:rPr>
                        <a:t>Panter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u="none" strike="noStrike" dirty="0">
                          <a:effectLst/>
                        </a:rPr>
                        <a:t>Holden Duncan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810299856"/>
                  </a:ext>
                </a:extLst>
              </a:tr>
              <a:tr h="255203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u="none" strike="noStrike" dirty="0">
                          <a:effectLst/>
                        </a:rPr>
                        <a:t>Mako Shibata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u="none" strike="noStrike" dirty="0">
                          <a:effectLst/>
                        </a:rPr>
                        <a:t>Lyle Hunter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u="none" strike="noStrike" dirty="0">
                          <a:effectLst/>
                        </a:rPr>
                        <a:t>Luke Hampshire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406083124"/>
                  </a:ext>
                </a:extLst>
              </a:tr>
              <a:tr h="255203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u="none" strike="noStrike" dirty="0">
                          <a:effectLst/>
                        </a:rPr>
                        <a:t>Amy Menzies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u="none" strike="noStrike" dirty="0">
                          <a:effectLst/>
                        </a:rPr>
                        <a:t>Abbigail Johnstone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u="none" strike="noStrike">
                          <a:effectLst/>
                        </a:rPr>
                        <a:t>Caitlin Graham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24253048"/>
                  </a:ext>
                </a:extLst>
              </a:tr>
              <a:tr h="255203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u="none" strike="noStrike" dirty="0">
                          <a:effectLst/>
                        </a:rPr>
                        <a:t>Ciara McManus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u="none" strike="noStrike" dirty="0">
                          <a:effectLst/>
                        </a:rPr>
                        <a:t>Ziyang Liu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u="none" strike="noStrike" dirty="0">
                          <a:effectLst/>
                        </a:rPr>
                        <a:t>Rowan </a:t>
                      </a:r>
                      <a:r>
                        <a:rPr lang="en-GB" sz="1800" u="none" strike="noStrike" dirty="0" err="1">
                          <a:effectLst/>
                        </a:rPr>
                        <a:t>Mcallister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12146434"/>
                  </a:ext>
                </a:extLst>
              </a:tr>
              <a:tr h="255203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u="none" strike="noStrike" dirty="0">
                          <a:effectLst/>
                        </a:rPr>
                        <a:t>Connor </a:t>
                      </a:r>
                      <a:r>
                        <a:rPr lang="en-GB" sz="1800" u="none" strike="noStrike" dirty="0" err="1">
                          <a:effectLst/>
                        </a:rPr>
                        <a:t>Cormick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u="none" strike="noStrike" dirty="0">
                          <a:effectLst/>
                        </a:rPr>
                        <a:t>Asia Kane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u="none" strike="noStrike" dirty="0">
                          <a:effectLst/>
                        </a:rPr>
                        <a:t>Hannah Caves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82747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61727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8727D-6F5C-F698-D39A-E9936F934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Field Notebooks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510CB-C875-DA6F-F71F-3607EFED26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You are expected to keep a field note book</a:t>
            </a:r>
          </a:p>
          <a:p>
            <a:endParaRPr lang="en-GB" dirty="0"/>
          </a:p>
          <a:p>
            <a:r>
              <a:rPr lang="en-GB" dirty="0"/>
              <a:t>THIS IS NOT SUMMATIVELY ASSESSED (phew…….)</a:t>
            </a:r>
          </a:p>
          <a:p>
            <a:endParaRPr lang="en-GB" dirty="0"/>
          </a:p>
          <a:p>
            <a:r>
              <a:rPr lang="en-GB" dirty="0"/>
              <a:t>However, it will form part of the material that can help you prepare for the exam at the end of semester – all activities </a:t>
            </a:r>
            <a:r>
              <a:rPr lang="en-GB" b="1" u="sng" dirty="0"/>
              <a:t>are examinable</a:t>
            </a:r>
          </a:p>
          <a:p>
            <a:endParaRPr lang="en-GB" b="1" u="sng" dirty="0"/>
          </a:p>
          <a:p>
            <a:pPr algn="ctr"/>
            <a:r>
              <a:rPr lang="en-GB" b="1" u="sng" dirty="0"/>
              <a:t>Sunday Night after dinner the teaching teach will give formative feedback on your note taking</a:t>
            </a:r>
          </a:p>
        </p:txBody>
      </p:sp>
    </p:spTree>
    <p:extLst>
      <p:ext uri="{BB962C8B-B14F-4D97-AF65-F5344CB8AC3E}">
        <p14:creationId xmlns:p14="http://schemas.microsoft.com/office/powerpoint/2010/main" val="42905552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8773D-F8E5-CEB0-97E0-E8E59E670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23973"/>
            <a:ext cx="10515600" cy="1325563"/>
          </a:xfrm>
        </p:spPr>
        <p:txBody>
          <a:bodyPr/>
          <a:lstStyle/>
          <a:p>
            <a:r>
              <a:rPr lang="en-GB" dirty="0"/>
              <a:t>What should you be writing about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66EFA-BFC8-4D1F-1959-3B845239A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7563"/>
            <a:ext cx="10515600" cy="5741581"/>
          </a:xfrm>
        </p:spPr>
        <p:txBody>
          <a:bodyPr>
            <a:normAutofit fontScale="625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191C1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Date, surveyor(s), project/site name, and fieldwork purpose</a:t>
            </a:r>
            <a:endParaRPr lang="en-GB" b="0" i="0" dirty="0">
              <a:solidFill>
                <a:srgbClr val="191C1A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191C1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Weather conditions</a:t>
            </a:r>
            <a:r>
              <a:rPr lang="en-GB" b="0" i="0" dirty="0">
                <a:solidFill>
                  <a:srgbClr val="191C1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including temperature, rainfall, wind, cloud cover, and recent weather events, where relevant to survey results.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191C1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Site location</a:t>
            </a:r>
            <a:r>
              <a:rPr lang="en-GB" b="0" i="0" dirty="0">
                <a:solidFill>
                  <a:srgbClr val="191C1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including grid references/GPS coordinates, site boundaries, access routes, and photographs or sketches of survey areas.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191C1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Survey timing</a:t>
            </a:r>
            <a:r>
              <a:rPr lang="en-GB" b="0" i="0" dirty="0">
                <a:solidFill>
                  <a:srgbClr val="191C1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including start and finish times, and the timing of individual samples, transects, or observations.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191C1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Methods used</a:t>
            </a:r>
            <a:r>
              <a:rPr lang="en-GB" b="0" i="0" dirty="0">
                <a:solidFill>
                  <a:srgbClr val="191C1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with enough detail for another competent person to repeat the work.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191C1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Raw data recorded at the time of collection</a:t>
            </a:r>
            <a:r>
              <a:rPr lang="en-GB" b="0" i="0" dirty="0">
                <a:solidFill>
                  <a:srgbClr val="191C1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not only later summaries or calculations.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191C1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Sample identifiers</a:t>
            </a:r>
            <a:r>
              <a:rPr lang="en-GB" b="0" i="0" dirty="0">
                <a:solidFill>
                  <a:srgbClr val="191C1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labels, storage conditions, preservation methods, chain-of-custody details, and intended laboratory analysis where samples are taken.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191C1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Equipment calibration and checks</a:t>
            </a:r>
            <a:r>
              <a:rPr lang="en-GB" b="0" i="0" dirty="0">
                <a:solidFill>
                  <a:srgbClr val="191C1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including calibration results, equipment faults, cleaning/decontamination procedures, and any deviations from the planned method.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191C1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Annotated maps, sketches, and field diagrams</a:t>
            </a:r>
            <a:r>
              <a:rPr lang="en-GB" b="0" i="0" dirty="0">
                <a:solidFill>
                  <a:srgbClr val="191C1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to support written observations. Record photo numbers, direction, location, and subject.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191C1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Unexpected conditions or deviations</a:t>
            </a:r>
            <a:r>
              <a:rPr lang="en-GB" b="0" i="0" dirty="0">
                <a:solidFill>
                  <a:srgbClr val="191C1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for example restricted access, flooded ground, poor visibility, equipment failure, disturbed habitats, or changes to sampling locations.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191C1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Initial observations and interpretation</a:t>
            </a:r>
            <a:r>
              <a:rPr lang="en-GB" b="0" i="0" dirty="0">
                <a:solidFill>
                  <a:srgbClr val="191C1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clearly separated from raw data. Note potential environmental receptors, pathways, sources of impact, and uncertainties.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191C1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Data limitations and confidence</a:t>
            </a:r>
            <a:r>
              <a:rPr lang="en-GB" b="0" i="0" dirty="0">
                <a:solidFill>
                  <a:srgbClr val="191C1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including whether conditions were appropriate for the survey and whether results are representative of the baseline.</a:t>
            </a:r>
          </a:p>
        </p:txBody>
      </p:sp>
    </p:spTree>
    <p:extLst>
      <p:ext uri="{BB962C8B-B14F-4D97-AF65-F5344CB8AC3E}">
        <p14:creationId xmlns:p14="http://schemas.microsoft.com/office/powerpoint/2010/main" val="33571776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2040</TotalTime>
  <Words>1034</Words>
  <Application>Microsoft Office PowerPoint</Application>
  <PresentationFormat>Widescreen</PresentationFormat>
  <Paragraphs>147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Aptos Narrow</vt:lpstr>
      <vt:lpstr>Arial</vt:lpstr>
      <vt:lpstr>inherit</vt:lpstr>
      <vt:lpstr>Inter</vt:lpstr>
      <vt:lpstr>Office Theme</vt:lpstr>
      <vt:lpstr>Practical Environmental Impact assessment</vt:lpstr>
      <vt:lpstr>The Course structure</vt:lpstr>
      <vt:lpstr>The course – an overview</vt:lpstr>
      <vt:lpstr>PowerPoint Presentation</vt:lpstr>
      <vt:lpstr>Glenmore has a large number of land use conflicts</vt:lpstr>
      <vt:lpstr>Environmental Impact Assessment (EIA)</vt:lpstr>
      <vt:lpstr>This field course is all about baselining</vt:lpstr>
      <vt:lpstr>The Baseline Study</vt:lpstr>
      <vt:lpstr>PowerPoint Presentation</vt:lpstr>
      <vt:lpstr>Field Notebooks</vt:lpstr>
      <vt:lpstr>What should you be writing about</vt:lpstr>
    </vt:vector>
  </TitlesOfParts>
  <Company>University of Edinburgh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Watt</dc:creator>
  <cp:lastModifiedBy>James Watt</cp:lastModifiedBy>
  <cp:revision>7</cp:revision>
  <dcterms:created xsi:type="dcterms:W3CDTF">2026-08-28T10:18:38Z</dcterms:created>
  <dcterms:modified xsi:type="dcterms:W3CDTF">2026-08-29T20:19:28Z</dcterms:modified>
</cp:coreProperties>
</file>